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A Digital-Twin Multi-Agent Framework for
Enterprise Cognitive Networking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3832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C8D8E4"/>
                </a:solidFill>
                <a:latin typeface="Calibri"/>
              </a:rPr>
              <a:t>ECNetBench and Leakage-Safe Multi-Seed Evaluation (ECN-v3)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Audrey Rah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C8D8E4"/>
                </a:solidFill>
                <a:latin typeface="Calibri"/>
              </a:rPr>
              <a:t>Department of Electrical and Computer Engineering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C8D8E4"/>
                </a:solidFill>
                <a:latin typeface="Calibri"/>
              </a:rPr>
              <a:t>University of Houston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C8D8E4"/>
                </a:solidFill>
                <a:latin typeface="Calibri"/>
              </a:rPr>
              <a:t>August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FFFFFF"/>
                </a:solidFill>
                <a:latin typeface="Calibri"/>
              </a:rPr>
              <a:t>Final architecture: leakage-safe features · anchored fusion · TreeSHAP RCA
T1 AUPRC 0.115  |  RF 0.076  |  v2 0.058  |  Six frozen seeds  |  RF paired test non-significant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Motivation and research gap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Contributions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ECNetBench benchmark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ECN-v3 architecture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Leakage-safe evaluation protocol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Experimental results and ablations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Discussion, limitations,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801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Architecture diagrams throughout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Verified publication figures only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Honest statistical reporting (n = 6)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Reproducible repository artifacts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2 / 35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2179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C8D8E4"/>
                </a:solidFill>
                <a:latin typeface="Calibri"/>
              </a:rPr>
              <a:t>Enterprise cognitive networking under continuous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Campus and data-center fabrics face continuous VLAN/ACL/EVPN/QoS and firmware change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Operators need earlier anomaly detection, failure-horizon prediction, and explainable RCA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Closed-loop remediation requires decision support—not opaque scores alone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Progress is slowed by fragmented public resources and weak leakage protocols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3 / 35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Enterprise Networking Challenges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011680"/>
            <a:ext cx="2651760" cy="2926080"/>
          </a:xfrm>
          <a:prstGeom prst="roundRect">
            <a:avLst/>
          </a:prstGeom>
          <a:solidFill>
            <a:srgbClr val="F4F7FA"/>
          </a:solidFill>
          <a:ln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0"/>
            <a:ext cx="237744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B3A5B"/>
                </a:solidFill>
                <a:latin typeface="Calibri"/>
              </a:rPr>
              <a:t>Class imbalance</a:t>
            </a:r>
          </a:p>
          <a:p>
            <a:r>
              <a:rPr sz="1300" b="0">
                <a:solidFill>
                  <a:srgbClr val="4A5568"/>
                </a:solidFill>
                <a:latin typeface="Calibri"/>
              </a:rPr>
              <a:t>~1% positives; ranking metrics required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2011680"/>
            <a:ext cx="2651760" cy="2926080"/>
          </a:xfrm>
          <a:prstGeom prst="roundRect">
            <a:avLst/>
          </a:prstGeom>
          <a:solidFill>
            <a:srgbClr val="F4F7FA"/>
          </a:solidFill>
          <a:ln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29000" y="2286000"/>
            <a:ext cx="237744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B3A5B"/>
                </a:solidFill>
                <a:latin typeface="Calibri"/>
              </a:rPr>
              <a:t>Temporal leakage</a:t>
            </a:r>
          </a:p>
          <a:p>
            <a:r>
              <a:rPr sz="1300" b="0">
                <a:solidFill>
                  <a:srgbClr val="4A5568"/>
                </a:solidFill>
                <a:latin typeface="Calibri"/>
              </a:rPr>
              <a:t>Future telemetry must not enter features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2011680"/>
            <a:ext cx="2651760" cy="2926080"/>
          </a:xfrm>
          <a:prstGeom prst="roundRect">
            <a:avLst/>
          </a:prstGeom>
          <a:solidFill>
            <a:srgbClr val="F4F7FA"/>
          </a:solidFill>
          <a:ln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2286000"/>
            <a:ext cx="237744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B3A5B"/>
                </a:solidFill>
                <a:latin typeface="Calibri"/>
              </a:rPr>
              <a:t>Multi-modal ops</a:t>
            </a:r>
          </a:p>
          <a:p>
            <a:r>
              <a:rPr sz="1300" b="0">
                <a:solidFill>
                  <a:srgbClr val="4A5568"/>
                </a:solidFill>
                <a:latin typeface="Calibri"/>
              </a:rPr>
              <a:t>Counters, syslog, topology, config semantics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2011680"/>
            <a:ext cx="2651760" cy="2926080"/>
          </a:xfrm>
          <a:prstGeom prst="roundRect">
            <a:avLst/>
          </a:prstGeom>
          <a:solidFill>
            <a:srgbClr val="F4F7FA"/>
          </a:solidFill>
          <a:ln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98280" y="2286000"/>
            <a:ext cx="237744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B3A5B"/>
                </a:solidFill>
                <a:latin typeface="Calibri"/>
              </a:rPr>
              <a:t>Explainability</a:t>
            </a:r>
          </a:p>
          <a:p>
            <a:r>
              <a:rPr sz="1300" b="0">
                <a:solidFill>
                  <a:srgbClr val="4A5568"/>
                </a:solidFill>
                <a:latin typeface="Calibri"/>
              </a:rPr>
              <a:t>RCA and healing must be operator-auditable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4 / 35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Research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Topology archives lack multi-modal telemetry and recovery labels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Security corpora omit enterprise L2/L3 configuration semantics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Few resources jointly expose detection, RCA, impact, and healing under temporal freeze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Need: leakage-safe benchmark + complete cognitive NetOps pipeline + multi-seed statistics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5 / 35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ECNetBench: frozen multi-seed enterprise benchmark with leakage rules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ECN-v3: Digital Twin + multi-agent detection–prediction–RCA–impact–healing decision support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Evidence-selected T1 head: enriched features + anchored fusion (stacking is a negative ablation)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TreeSHAP RCA and honest ablation / significance reporting (RF paired test non-significant)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Reproducible package: checksums, relative paths, Overleaf + presentation 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6 / 35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Literature Context (Summary)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Network digital twins enable what-if analysis and safe change validation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AIOps surveys emphasize imbalance, drift, and operational metrics beyond accuracy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Strong tabular detectors (RF, boosting, logistic) remain competitive when features are informative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Deep baselines include TabNet and true GraphSAGE; a historical GNN proxy (LightGBM) is reported separately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ECNetBench fills the enterprise cognitive NetOps evaluation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7 / 35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ECNetBench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Synthetic enterprise schema under AOS-CX-style assumptions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19 devices / 31 links (primary instance family)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Tasks: T1 anomaly, T2 failure horizon, T3 RCA, T4 impact, healing decision support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Six frozen instances: v1.1.0-INST + seeds 101–505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Checksum-verified SQLite; read-only evaluation</a:t>
            </a:r>
          </a:p>
        </p:txBody>
      </p:sp>
      <p:pic>
        <p:nvPicPr>
          <p:cNvPr id="5" name="Picture 4" descr="arch_benchmark_gene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234440"/>
            <a:ext cx="5669280" cy="34389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8 / 35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Benchmark Generation Pipeline</a:t>
            </a:r>
          </a:p>
        </p:txBody>
      </p:sp>
      <p:pic>
        <p:nvPicPr>
          <p:cNvPr id="4" name="Picture 3" descr="arch_benchmark_gene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67114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9 / 35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Multi-Seed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Independent frozen instances reduce seed-specific overfitting claims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Report mean ± 95% CI across n = 6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Paired Wilcoxon + Cliff’s δ for proposed versus baselines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n = 6 is underpowered—mean improvements reported with honest p-values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10 / 35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Complete ECN-v3 Architecture</a:t>
            </a:r>
          </a:p>
        </p:txBody>
      </p:sp>
      <p:pic>
        <p:nvPicPr>
          <p:cNvPr id="4" name="Picture 3" descr="arch_ecn_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0"/>
            <a:ext cx="11521440" cy="70989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11 / 35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Digital Twin Architecture</a:t>
            </a:r>
          </a:p>
        </p:txBody>
      </p:sp>
      <p:pic>
        <p:nvPicPr>
          <p:cNvPr id="4" name="Picture 3" descr="arch_digital_tw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11064240" cy="6987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12 / 35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Multi-Agent Architecture</a:t>
            </a:r>
          </a:p>
        </p:txBody>
      </p:sp>
      <p:pic>
        <p:nvPicPr>
          <p:cNvPr id="4" name="Picture 3" descr="arch_multi_ag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11064240" cy="6987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13 / 35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Feature Engineering Pipeline</a:t>
            </a:r>
          </a:p>
        </p:txBody>
      </p:sp>
      <p:pic>
        <p:nvPicPr>
          <p:cNvPr id="4" name="Picture 3" descr="arch_feature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11064240" cy="64311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14 / 35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Leakage-Safe Protocol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Features join labels at a 30-minute decision-time offset (features strictly precede labels)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Rolling / expanding / EMA operators exclude the current bin via a one-step causal shift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Neighbor instability uses previous-bin aggregates only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Classical baselines train on telemetry-only matrices; proposed T1 uses enriched twin+telem + anchored fusion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Temporal 70/15/15 freeze and lag audits on all six frozen instances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15 / 35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Temporal Evaluation Protocol</a:t>
            </a:r>
          </a:p>
        </p:txBody>
      </p:sp>
      <p:pic>
        <p:nvPicPr>
          <p:cNvPr id="4" name="Picture 3" descr="arch_evaluation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11064240" cy="67114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16 / 35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Explainable RCA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Random-forest multiclass category model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TreeSHAP attributions for operator-facing explanations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Mean macro-F1 ≈ 0.254 across six seeds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Supports triage—not claimed as solved RCA in production</a:t>
            </a:r>
          </a:p>
        </p:txBody>
      </p:sp>
      <p:pic>
        <p:nvPicPr>
          <p:cNvPr id="5" name="Picture 4" descr="T3_v1.1.0-INST_c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234440"/>
            <a:ext cx="5760720" cy="49290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17 / 35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TreeSHAP Explanation Workflow</a:t>
            </a:r>
          </a:p>
        </p:txBody>
      </p:sp>
      <p:pic>
        <p:nvPicPr>
          <p:cNvPr id="4" name="Picture 3" descr="arch_shap_r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10881360" cy="622379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18 / 35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Healing Decision Support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2179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C8D8E4"/>
                </a:solidFill>
                <a:latin typeface="Calibri"/>
              </a:rPr>
              <a:t>Recommendations with human approval — not live autonomous switch actuation</a:t>
            </a:r>
          </a:p>
        </p:txBody>
      </p:sp>
      <p:pic>
        <p:nvPicPr>
          <p:cNvPr id="5" name="Picture 4" descr="arch_healing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10881360" cy="62237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19 / 35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Experimental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Six frozen ECNetBench instances (checksum verified)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Temporal freeze 70% / 15% / 15%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Primary metric: AUPRC (scores); thresholds on validation only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Final T1: leakage-safe enriched features + anchored telemetry-first fusion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T2 recommended operating head: telemetry logistic regression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Healing evaluated as decision support (human approval), not physical actuation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20 / 35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Baselines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Classical tabular: logistic regression, random forest, LightGBM, XGBoost, CatBoost, gradient boosting, balanced RF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Classical detectors: Isolation Forest, EWMA, threshold rules, majority class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Deep tabular: TabNet (telemetry-only)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True GraphSAGE message-passing GNN over the Digital Twin adjacency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Historical GNN proxy = LightGBM on a restricted feature subset (not message passing)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Shared temporal enrichment; classical baselines use telemetry-only feature matrices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21 / 35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Deep Baselines vs Selected Heads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2179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C8D8E4"/>
                </a:solidFill>
                <a:latin typeface="Calibri"/>
              </a:rPr>
              <a:t>TabNet and true GraphSAGE do not overturn ECN-v3 / T2 selections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ECN-v3 final T1 AUPRC 0.115  |  RF 0.076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TabNet T1 AUPRC 0.049 — trails ECN-v3 and RF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True GraphSAGE T1 AUPRC 0.015 — message-passing baseline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Historical GNN proxy (LightGBM) T1 AUPRC 0.034 — not message passing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Recommended T2 head remains telem logistic (0.038); deep models also trail on T2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22 / 35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Ablation Studies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2179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C8D8E4"/>
                </a:solidFill>
                <a:latin typeface="Calibri"/>
              </a:rPr>
              <a:t>Feature enrichment dominates; stacking is a negative result</a:t>
            </a:r>
          </a:p>
        </p:txBody>
      </p:sp>
      <p:pic>
        <p:nvPicPr>
          <p:cNvPr id="5" name="Picture 4" descr="architecture_selection_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5669280" cy="4241461"/>
          </a:xfrm>
          <a:prstGeom prst="rect">
            <a:avLst/>
          </a:prstGeom>
        </p:spPr>
      </p:pic>
      <p:pic>
        <p:nvPicPr>
          <p:cNvPr id="6" name="Picture 5" descr="module_con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486400" cy="3758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23 / 35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Statistical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Final T1 vs RF: Wilcoxon p = 0.688, Cliff δ = +0.389 (mean lift; not statistically significant)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Final T1 vs stacking ablation: p = 0.375, δ = +0.111 (not significant)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Final T1 vs logistic: p = 0.031, δ = +0.556 (exploratory under multiple comparisons)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Bootstrap 95% CIs on seed means; n = 6 underpowered for many paired claims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Do not claim statistically significant superiority over RF or stacking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24 / 35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Main Quantitative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2179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C8D8E4"/>
                </a:solidFill>
                <a:latin typeface="Calibri"/>
              </a:rPr>
              <a:t>Verified six-seed means (publication figures)</a:t>
            </a:r>
          </a:p>
        </p:txBody>
      </p:sp>
      <p:pic>
        <p:nvPicPr>
          <p:cNvPr id="5" name="Picture 4" descr="baseline_auprc_mean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0"/>
            <a:ext cx="11521440" cy="427745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25 / 35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Headline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2179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C8D8E4"/>
                </a:solidFill>
                <a:latin typeface="Calibri"/>
              </a:rPr>
              <a:t>Three-decimal manuscript convention; RF paired comparison non-significant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1234440"/>
            <a:ext cx="9875520" cy="658368"/>
          </a:xfrm>
          <a:prstGeom prst="roundRect">
            <a:avLst/>
          </a:prstGeom>
          <a:solidFill>
            <a:srgbClr val="F4F7FA"/>
          </a:solidFill>
          <a:ln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5880" y="1371600"/>
            <a:ext cx="6858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B3A5B"/>
                </a:solidFill>
                <a:latin typeface="Calibri"/>
              </a:rPr>
              <a:t>T1 ECN-v3 final (anchored)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137160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C47B2B"/>
                </a:solidFill>
                <a:latin typeface="Calibri"/>
              </a:rPr>
              <a:t>0.115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2011680"/>
            <a:ext cx="987552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2148840"/>
            <a:ext cx="6858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B3A5B"/>
                </a:solidFill>
                <a:latin typeface="Calibri"/>
              </a:rPr>
              <a:t>T1 RF telem_only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14884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C47B2B"/>
                </a:solidFill>
                <a:latin typeface="Calibri"/>
              </a:rPr>
              <a:t>0.076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2788920"/>
            <a:ext cx="9875520" cy="658368"/>
          </a:xfrm>
          <a:prstGeom prst="roundRect">
            <a:avLst/>
          </a:prstGeom>
          <a:solidFill>
            <a:srgbClr val="F4F7FA"/>
          </a:solidFill>
          <a:ln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2926079"/>
            <a:ext cx="6858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B3A5B"/>
                </a:solidFill>
                <a:latin typeface="Calibri"/>
              </a:rPr>
              <a:t>T1 v2 legacy + anchored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926079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C47B2B"/>
                </a:solidFill>
                <a:latin typeface="Calibri"/>
              </a:rPr>
              <a:t>0.058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3566160"/>
            <a:ext cx="987552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703320"/>
            <a:ext cx="6858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B3A5B"/>
                </a:solidFill>
                <a:latin typeface="Calibri"/>
              </a:rPr>
              <a:t>T1 stacking ablation (negative)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370332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C47B2B"/>
                </a:solidFill>
                <a:latin typeface="Calibri"/>
              </a:rPr>
              <a:t>0.100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97280" y="4343400"/>
            <a:ext cx="9875520" cy="658368"/>
          </a:xfrm>
          <a:prstGeom prst="roundRect">
            <a:avLst/>
          </a:prstGeom>
          <a:solidFill>
            <a:srgbClr val="F4F7FA"/>
          </a:solidFill>
          <a:ln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5880" y="4480560"/>
            <a:ext cx="6858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B3A5B"/>
                </a:solidFill>
                <a:latin typeface="Calibri"/>
              </a:rPr>
              <a:t>T2 telem logistic (recommended)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48056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C47B2B"/>
                </a:solidFill>
                <a:latin typeface="Calibri"/>
              </a:rPr>
              <a:t>0.038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97280" y="5120640"/>
            <a:ext cx="987552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25880" y="5257800"/>
            <a:ext cx="6858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B3A5B"/>
                </a:solidFill>
                <a:latin typeface="Calibri"/>
              </a:rPr>
              <a:t>Twin gain under final T1 head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525780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C47B2B"/>
                </a:solidFill>
                <a:latin typeface="Calibri"/>
              </a:rPr>
              <a:t>+0.000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26 / 35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T1 ROC / Precision–Recall (Primary Instance)</a:t>
            </a:r>
          </a:p>
        </p:txBody>
      </p:sp>
      <p:pic>
        <p:nvPicPr>
          <p:cNvPr id="4" name="Picture 3" descr="T1_v1.1.0-INST_roc_p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43000"/>
            <a:ext cx="10698480" cy="39197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27 / 35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T2 ROC / Precision–Recall (Primary Instance)</a:t>
            </a:r>
          </a:p>
        </p:txBody>
      </p:sp>
      <p:pic>
        <p:nvPicPr>
          <p:cNvPr id="4" name="Picture 3" descr="T2_v1.1.0-INST_roc_p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43000"/>
            <a:ext cx="10698480" cy="39197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28 / 35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Calibration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2179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C8D8E4"/>
                </a:solidFill>
                <a:latin typeface="Calibri"/>
              </a:rPr>
              <a:t>Optional Beta for probability display; AUPRC uses scores</a:t>
            </a:r>
          </a:p>
        </p:txBody>
      </p:sp>
      <p:pic>
        <p:nvPicPr>
          <p:cNvPr id="5" name="Picture 4" descr="T1_v1.1.0-INST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1188720"/>
            <a:ext cx="6217920" cy="60630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29 / 35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Leakage-safe feature enrichment is the primary T1 driver (+0.058 mean AUPRC vs v2)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Anchored fusion preferred over stacking (higher mean AUPRC; stacking is a negative ablation)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Mean T1 advantage vs RF is not statistically significant at n = 6 (p = 0.688)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TabNet and true GraphSAGE do not overturn the selected T1 head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T2 remains telem-logistic; twin gain under the final T1 head is near zero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Value: reproducible benchmark + honest statistics—not universal detector dominance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30 / 35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Synthetic generator may over-structure causal chains (construct validity)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n = 6 yields wide CIs and underpowered paired tests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External validity requires production-trace evaluation beyond AOS-CX-style assumptions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Healing with RCA-category features can be near-oracle—honest no-category ablations required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No live autonomous deployment on physical AOS-CX switches; healing is decision support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31 / 35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Larger topologies and longer traces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Production-telemetry calibration studies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Human-in-the-loop healing approval workflows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Expanded multi-vendor schema realism mapping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32 / 35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ECN-v3 final T1 AUPRC 0.115 is above RF 0.076 and v2 0.058 in mean (RF paired test non-significant)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Stacking ablation 0.100 — negative result versus anchored fusion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Recommended T2 head: telem logistic 0.038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TabNet and true GraphSAGE do not outperform the selected T1 head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Architecture: leakage-safe features + anchored fusion + TreeSHAP RCA + healing decision support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Primary contribution: reproducible ECNetBench + complete cognitive NetOps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33 / 35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Reproducibility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Repository: https://github.com/Audrey2023uh/Network-Multi-Agent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Manuscript: paper/overleaf/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Metrics: results/manuscript_ready_numbers.json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Figures: paper/overleaf/figures/ (vector PDF + 600 dpi PNG)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This deck: presentation/build_network_journal_presentation.py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34 / 35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0">
                <a:solidFill>
                  <a:srgbClr val="C8D8E4"/>
                </a:solidFill>
                <a:latin typeface="Calibri"/>
              </a:rPr>
              <a:t>Questions and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